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 для тёплого контакта. «Рад(а) написать вам первым(и) — раньше, чем это увидит остальная аудитория. Я собрал(а) мастер-класс о том, как выстроить доход, который приходит каждый месяц: от мастермайнда, который соберётся на любой базе, до клуба, из которого люди не уходят годами. Специально для своих — особые условия захода. Давайте покажу, о чём это.»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«Смысл простой: перестать зависеть от бесконечных прогревов и запусков. Клуб и мастермайнд — это когда деньги приходят каждый месяц, а люди остаются. Три вещи, которые важны: это рекуррент, это собирается на любой базе, и это работает на годы. Дальше покажу, почему у большинства не получается — и как надо.»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«Смотрите, где обычно всё ломается — четыре типичные ошибки. Первое: сразу берутся за большой клуб на маленькой базе. Второе: не проверяют гипотезу, вкладываются вслепую. Третье: путают клуб с разовым продуктом — нет продлений, люди уходят. Четвёртое: нет лестницы, прыгают сразу наверх. Узнаёте что-то из своего опыта? (пауза, дать ответить). Именно эти четыре вещи мастер-класс и закрывает.»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«А теперь — как надо. Это лестница. Первая ступень — мастермайнд: маленький портативный клуб, который соберётся у вас на любой базе, и это самый дешёвый способ проверить гипотезу. Вторая — полноценный клуб в низком чеке, когда гипотеза уже подтвердилась. Третья — премиум-клуб на годы, высокий чек, люди не выходят. Идея в том, чтобы идти по ступеням, а не прыгать. И на мастер-классе я показываю сборку каждой.»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«По содержанию мастер-класс закрывает всю лестницу. Первое — мастермайнд под ключ: структура, встречи, продления. Второе — сам клуб и его наполнение, какие бывают и что внутри. Третье — удержание и экономика: почему люди остаются и сколько это приносит. И четвёртое, в старшем тарифе — премиум-клубы на годы и наполнение в разных чеках. Дальше покажу тарифы — заходить можно на своей ступени.»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«Три тарифа, и важное: каждый следующий включает предыдущий, так что выбор простой. Первый — если хотите просто попробовать мастермайнд, 2 500. Второй — золотая середина, тут уже сам клуб и его наполнение, 6 900. Третий — максимум: всё из второго плюс премиум-клубы и личная сессия со мной, 19 900. Я обычно рекомендую второй как базу, а третий — если клуб для вас основной продукт. Сейчас покажу, почему третий берут чаще всего.»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«Почему третий берут чаще всего — две причины. Первая: это работа со мной лично. В первом и втором вы разбираетесь сами, а тут мы за 45 минут собираем гипотезу именно вашего клуба, и вы уходите с планом. Вторая — чистая математика: одна такая сессия стоит дороже, чем весь тариф целиком. То есть вы фактически платите за сессию, а лекцию про премиум-клубы и всё остальное получаете сверху. И момент честности: сессий ограниченное число — сколько влезает в мой календарь. Закончатся места — тариф закроется.»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«И теперь — почему я пишу именно вам сейчас. Для тёплой базы условия лучше, чем будут на открытых продажах: вы заходите первыми, за вами закрепляется место на сессию, и вы забираете полный набор бонусов. Смотрите, они растут по тарифам: всем — пак «Быстрый старт» и чат запуска; на втором и третьем добавляется урок по экономике и библиотека форматов; а на третьем — приоритетный слот сессии, запись с конспектом и лекция навсегда. Действует до [дата] — дальше уходит в открытые продажи уже без этих условий.»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«Чтобы вам было спокойно решиться. Это точно для вас, если хотите регулярный доход, если база пока небольшая, если есть идея клуба, которую хочется проверить, или хочется сообщество на годы. И — [проговорить условия возврата/гарантии]. То есть риск минимальный: начинаете с мастермайнда, дёшево проверяете гипотезу, дальше растёте.»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«Как зайти прямо сейчас: выбираете тариф — и я тут же закрепляю за вами условия. Я рекомендую третий, если клуб для вас всерьёз, или второй как надёжную базу. Дальше всё просто: напишите мне номер тарифа, я пришлю ссылку на оплату, и сразу закреплю бонусы и слот на сессию. Какой берём?» (Дать выбрать из тарифов, не из «да/нет».)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Закрытие. «Если откликается — давайте заходить. Раннее предложение по времени ограничено, так что если сомневаетесь между тарифами, я помогу выбрать прямо сейчас. Пишите — и стартуем.» Оставить контакт и мягко подтолкнуть к ответу в этом же диалоге.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731520" cy="731520"/>
          </a:xfrm>
          <a:prstGeom prst="ellipse">
            <a:avLst/>
          </a:prstGeom>
          <a:ln w="25400">
            <a:solidFill>
              <a:srgbClr val="D6B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58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2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3520" dirty="0"/>
          </a:p>
        </p:txBody>
      </p:sp>
      <p:sp>
        <p:nvSpPr>
          <p:cNvPr id="4" name="Text 2"/>
          <p:cNvSpPr/>
          <p:nvPr/>
        </p:nvSpPr>
        <p:spPr>
          <a:xfrm>
            <a:off x="1691640" y="868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91640" y="1298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Мастер-класс · мастермайнды и клубы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От мастермайнда
</a:t>
            </a:r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до клуба, который
</a:t>
            </a:r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живёт годами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41248" y="48006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Специальное раннее предложение для тёплой базы — зайти первыми, до открытых продаж.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5623560"/>
            <a:ext cx="2926080" cy="0"/>
          </a:xfrm>
          <a:prstGeom prst="line">
            <a:avLst/>
          </a:prstGeom>
          <a:noFill/>
          <a:ln w="12700">
            <a:solidFill>
              <a:srgbClr val="3A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715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[Ваше имя] · методолог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ЭТО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Доход, который капает каждый месяц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 запуска к запуску, а система на регулярных платежах: люди платят каждый месяц и остаются с вами надолго. Мастер-класс показывает, как собрать такую систему — с самой первой ступени.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52360" y="17830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08392" y="2075688"/>
            <a:ext cx="457200" cy="457200"/>
          </a:xfrm>
          <a:prstGeom prst="ellipse">
            <a:avLst/>
          </a:prstGeom>
          <a:ln w="19050">
            <a:solidFill>
              <a:srgbClr val="D6B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8392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0" y="1929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Рекуррент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21040" y="2286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платежи вместо разовых продаж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52360" y="30175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08392" y="3310128"/>
            <a:ext cx="457200" cy="457200"/>
          </a:xfrm>
          <a:prstGeom prst="ellipse">
            <a:avLst/>
          </a:prstGeom>
          <a:ln w="19050">
            <a:solidFill>
              <a:srgbClr val="D6B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316382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Любая база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1040" y="3520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Собирается даже на маленькой аудитории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425196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8392" y="4544568"/>
            <a:ext cx="457200" cy="457200"/>
          </a:xfrm>
          <a:prstGeom prst="ellipse">
            <a:avLst/>
          </a:prstGeom>
          <a:ln w="19050">
            <a:solidFill>
              <a:srgbClr val="D6B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43982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На годы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47548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Сообщество, из которого не выходят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КЛУБ — МЕЧТА, НО НЕ СОБИРАЕТСЯ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Клуб хотят все. Собирают — единицы.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ln w="19050">
            <a:solidFill>
              <a:srgbClr val="D0A0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A0A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25856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Строят сразу большой клуб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80720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Пытаются собрать большой клуб на маленькой базе — он не набирается.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286000"/>
            <a:ext cx="566928" cy="566928"/>
          </a:xfrm>
          <a:prstGeom prst="ellipse">
            <a:avLst/>
          </a:prstGeom>
          <a:ln w="19050">
            <a:solidFill>
              <a:srgbClr val="D0A0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A0A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25856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Не тестируют гипотезу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80720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Вкладываются вслепую, вместо того чтобы сначала дёшево проверить спрос.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89120"/>
            <a:ext cx="566928" cy="566928"/>
          </a:xfrm>
          <a:prstGeom prst="ellipse">
            <a:avLst/>
          </a:prstGeom>
          <a:ln w="19050">
            <a:solidFill>
              <a:srgbClr val="D0A0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A0A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3616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Путают клуб и разовый продукт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91032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механики продления — люди уходят через месяц, рекуррент рассыпается.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389120"/>
            <a:ext cx="566928" cy="566928"/>
          </a:xfrm>
          <a:prstGeom prst="ellipse">
            <a:avLst/>
          </a:prstGeom>
          <a:ln w="19050">
            <a:solidFill>
              <a:srgbClr val="D0A0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A0A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43616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Нет лестницы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91032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Прыгают сразу наверх вместо движения по ступеням — и выгорают.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ЛЕСТНИЦА ПРОДУКТОВ НА РЕКУРРЕНТ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Три ступени: от того, что соберёт каждый, — до того, из чего не выходят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069080" y="4709160"/>
            <a:ext cx="301752" cy="0"/>
          </a:xfrm>
          <a:prstGeom prst="line">
            <a:avLst/>
          </a:prstGeom>
          <a:noFill/>
          <a:ln w="15875">
            <a:solidFill>
              <a:srgbClr val="3A5A4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99832" y="3429000"/>
            <a:ext cx="301752" cy="0"/>
          </a:xfrm>
          <a:prstGeom prst="line">
            <a:avLst/>
          </a:prstGeom>
          <a:noFill/>
          <a:ln w="15875">
            <a:solidFill>
              <a:srgbClr val="3A5A4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47091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910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СТУПЕНЬ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518464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Мастермайнд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56869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Портативный клуб. Рекуррент с первого месяца, собирается на любой базе. Ваш тест гипотезы клуба.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34290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36301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СТУПЕНЬ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45152" y="390448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Клуб в низком чеке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5152" y="428853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на регулярных платежах и удержании. Гипотеза проверена — собираем полноценный клуб.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214884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402F"/>
          </a:solidFill>
          <a:ln w="22225">
            <a:solidFill>
              <a:srgbClr val="D6B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23500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СТУПЕНЬ 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75904" y="26243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C97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Премиум-клуб на годы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75904" y="300837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чек и люди, которые остаются годами и не выходят.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Мастермайнд — самый дешёвый способ проверить гипотезу клуба до того, как вкладываться в большой продукт.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ВНУТРИ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вы соберёте на мастер-классе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58368" cy="658368"/>
          </a:xfrm>
          <a:prstGeom prst="ellipse">
            <a:avLst/>
          </a:prstGeom>
          <a:ln w="19050">
            <a:solidFill>
              <a:srgbClr val="D6B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Мастермайнд под ключ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2128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Структура, ритм встреч, роли и механика продлений из месяца в месяц.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953512"/>
            <a:ext cx="658368" cy="658368"/>
          </a:xfrm>
          <a:prstGeom prst="ellipse">
            <a:avLst/>
          </a:prstGeom>
          <a:ln w="19050">
            <a:solidFill>
              <a:srgbClr val="D6B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535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907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Сам клуб и его наполнение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клубы бывают и что в них входит в низком чеке.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4032504"/>
            <a:ext cx="658368" cy="658368"/>
          </a:xfrm>
          <a:prstGeom prst="ellipse">
            <a:avLst/>
          </a:prstGeom>
          <a:ln w="19050">
            <a:solidFill>
              <a:srgbClr val="D6B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32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9867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Удержание и рекуррент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3708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люди остаются месяцами и как считать экономику клуба.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5111496"/>
            <a:ext cx="658368" cy="658368"/>
          </a:xfrm>
          <a:prstGeom prst="ellipse">
            <a:avLst/>
          </a:prstGeom>
          <a:ln w="19050">
            <a:solidFill>
              <a:srgbClr val="D6B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1114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50657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Премиум-клубы на годы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54498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в разных чеках и клубы, которые живут годами (Тариф 03).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Заходите на своей ступени. Каждый тариф включает предыдущий.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1671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5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Мастермайнд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86968" y="2834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2 500 ₽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мастермайнда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рекуррента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на любой базе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гипотезы клуба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1671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5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Мастермайнд + Клубы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6 900 ₽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82312" y="35661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из Тарифа 01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клуб и какие бывают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клубов в низком чеке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удержания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26402F"/>
          </a:solidFill>
          <a:ln w="25400">
            <a:solidFill>
              <a:srgbClr val="D6B2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62872" y="1399032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D6B24A"/>
          </a:solidFill>
          <a:ln/>
        </p:spPr>
      </p:sp>
      <p:sp>
        <p:nvSpPr>
          <p:cNvPr id="16" name="Text 14"/>
          <p:cNvSpPr/>
          <p:nvPr/>
        </p:nvSpPr>
        <p:spPr>
          <a:xfrm>
            <a:off x="9262872" y="13990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ЛИЧНОЙ СЕССИЕЙ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22792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22792" y="21671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5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Максимум + сессия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22792" y="2834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C97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19 900 ₽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650224" y="35661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из Тарифа 02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про премиум-клубы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в разных чеках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сессия 45 мин со мной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БЕРУТ ТАРИФ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Здесь вы не просто учитесь — мы собираем ваш клуб вместе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Тарифы 01–02 — вы строите сами. Тариф 03 — 45 минут наедине со мной превращают вашу идею клуба в проверенную гипотезу с планом действий.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A3B29"/>
          </a:solidFill>
          <a:ln w="15875">
            <a:solidFill>
              <a:srgbClr val="7E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A0A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Мест ограниченное число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Личных сессий столько, сколько слотов помещается в календарь. Когда закончатся — тариф закрывается.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37960" y="1874520"/>
            <a:ext cx="5120640" cy="3429000"/>
          </a:xfrm>
          <a:prstGeom prst="roundRect">
            <a:avLst>
              <a:gd name="adj" fmla="val 2667"/>
            </a:avLst>
          </a:prstGeom>
          <a:solidFill>
            <a:srgbClr val="26402F"/>
          </a:solidFill>
          <a:ln w="19050">
            <a:solidFill>
              <a:srgbClr val="D6B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ТАРИФ 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25328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сессия 45 мин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04120" y="25328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15 000 ₽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03720" y="2935224"/>
            <a:ext cx="4389120" cy="0"/>
          </a:xfrm>
          <a:prstGeom prst="line">
            <a:avLst/>
          </a:prstGeom>
          <a:noFill/>
          <a:ln w="6350">
            <a:solidFill>
              <a:srgbClr val="3A5A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3035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про премиум-клубы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04120" y="30358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входит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3438144"/>
            <a:ext cx="4389120" cy="0"/>
          </a:xfrm>
          <a:prstGeom prst="line">
            <a:avLst/>
          </a:prstGeom>
          <a:noFill/>
          <a:ln w="6350">
            <a:solidFill>
              <a:srgbClr val="3A5A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538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в разных чеках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04120" y="35387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входит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03720" y="3941064"/>
            <a:ext cx="4389120" cy="0"/>
          </a:xfrm>
          <a:prstGeom prst="line">
            <a:avLst/>
          </a:prstGeom>
          <a:noFill/>
          <a:ln w="6350">
            <a:solidFill>
              <a:srgbClr val="3A5A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40416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Мастермайнд + клубы (01–02)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04120" y="40416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входит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03720" y="4443984"/>
            <a:ext cx="4389120" cy="0"/>
          </a:xfrm>
          <a:prstGeom prst="line">
            <a:avLst/>
          </a:prstGeom>
          <a:noFill/>
          <a:ln w="6350">
            <a:solidFill>
              <a:srgbClr val="3A5A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5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Ваша цена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89720" y="4617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C97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19 900 ₽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3796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сессия дороже всего тарифа — остальное сверху.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ПРЕДЛОЖЕНИЕ — ТОЛЬКО ДЛЯ СВОИХ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Заходите первыми — с максимальными бонусами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получаете доступ раньше открытых продаж, гарантированное место на сессию и весь набор бонусов за оплату в окне запуска. Бонусы растут от тарифа к тарифу.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5877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 тарифам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6968" y="2990088"/>
            <a:ext cx="2971800" cy="0"/>
          </a:xfrm>
          <a:prstGeom prst="line">
            <a:avLst/>
          </a:prstGeom>
          <a:noFill/>
          <a:ln w="9525">
            <a:solidFill>
              <a:srgbClr val="3A5A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154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 «Быстрый старт»: чек-лист запуска, шаблон оффера, скрипты продления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Закрытый чат запуска + живой групповой разбор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5877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Тарифам 02 и 03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990088"/>
            <a:ext cx="2971800" cy="0"/>
          </a:xfrm>
          <a:prstGeom prst="line">
            <a:avLst/>
          </a:prstGeom>
          <a:noFill/>
          <a:ln w="9525">
            <a:solidFill>
              <a:srgbClr val="3A5A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154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«Экономика удержания»: как считать рекуррент клуба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форматов, которые удерживают людей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02752" y="233172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26402F"/>
          </a:solidFill>
          <a:ln w="22225">
            <a:solidFill>
              <a:srgbClr val="D6B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2792" y="25877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Тарифу 03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22792" y="2990088"/>
            <a:ext cx="2971800" cy="0"/>
          </a:xfrm>
          <a:prstGeom prst="line">
            <a:avLst/>
          </a:prstGeom>
          <a:noFill/>
          <a:ln w="9525">
            <a:solidFill>
              <a:srgbClr val="3A5A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8512" y="3154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Приоритетный слот сессии + запись и персональный конспект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Эксклюзивная лекция про премиум-клубы — навсегда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257800"/>
            <a:ext cx="4754880" cy="502920"/>
          </a:xfrm>
          <a:prstGeom prst="roundRect">
            <a:avLst>
              <a:gd name="adj" fmla="val 49091"/>
            </a:avLst>
          </a:prstGeom>
          <a:ln w="15875">
            <a:solidFill>
              <a:srgbClr val="D6B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5257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действуют до [укажите дату]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ВЫ БЫЛИ УВЕРЕНЫ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Вам сюда, если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8836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Хотите доход на регулярных платежах, а не только на разовых запусках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624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6334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пока небольшая — и большой клуб на ней «не набирается»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33741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идея клуба, но непонятно, как проверить, что она взлетит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41239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41330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Хотите сообщество, из которого не уходят месяцами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Спокойно попробовать.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[Здесь ваши условия возврата — например: посмотрите первый модуль, и если поймёте, что не ваше, вернём оплату в течение N дней.]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ЗАЙТИ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Выберите ступень — место закреплю сразу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240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532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5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Мастермайнд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2 500 ₽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A3B29"/>
          </a:solidFill>
          <a:ln w="9525">
            <a:solidFill>
              <a:srgbClr val="3A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240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532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5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Мастермайнд + Клубы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6 900 ₽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302752" y="19659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26402F"/>
          </a:solidFill>
          <a:ln w="25400">
            <a:solidFill>
              <a:srgbClr val="D6B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22792" y="2240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22792" y="2532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5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Максимум + сессия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22792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C97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19 900 ₽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622792" y="37216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572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A3B29"/>
          </a:solidFill>
          <a:ln w="15875">
            <a:solidFill>
              <a:srgbClr val="D6B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мне номер тарифа — пришлю ссылку на оплату и сразу закреплю за вами бонусы и место на сессию.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1417320"/>
            <a:ext cx="777240" cy="777240"/>
          </a:xfrm>
          <a:prstGeom prst="ellipse">
            <a:avLst/>
          </a:prstGeom>
          <a:ln w="25400">
            <a:solidFill>
              <a:srgbClr val="D6B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33288" y="13990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40" dirty="0">
                <a:solidFill>
                  <a:srgbClr val="D6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374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Соберём клуб, который приносит</a:t>
            </a:r>
            <a:endParaRPr lang="en-US" sz="36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D6B2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деньги каждый месяц?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C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предложение действует ограниченное время. Напишите — и заходим.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937760" y="5029200"/>
            <a:ext cx="2286000" cy="0"/>
          </a:xfrm>
          <a:prstGeom prst="line">
            <a:avLst/>
          </a:prstGeom>
          <a:noFill/>
          <a:ln w="12700">
            <a:solidFill>
              <a:srgbClr val="3A5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[Ваше имя] · [контакт для связи]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 · мастермайнды и клубы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2026-07-14T08:12:25Z</dcterms:created>
  <dcterms:modified xsi:type="dcterms:W3CDTF">2026-07-14T08:12:25Z</dcterms:modified>
</cp:coreProperties>
</file>